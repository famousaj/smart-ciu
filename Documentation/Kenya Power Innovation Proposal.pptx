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4669D-B9EF-4ECF-AE2C-9E3250404180}" type="datetimeFigureOut">
              <a:rPr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82811-0098-4CB4-B9B1-8E1A76544AEA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/>
                <a:cs typeface="Calibri" panose="020F0502020204030204"/>
              </a:rPr>
              <a:t>RedLucent.Thread</a:t>
            </a:r>
            <a:endParaRPr lang="en-US" dirty="0" err="1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2811-0098-4CB4-B9B1-8E1A76544AEA}" type="slidenum">
              <a:rPr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/>
                <a:cs typeface="Calibri" panose="020F0502020204030204"/>
              </a:rPr>
              <a:t>RedLucent.Thread</a:t>
            </a:r>
            <a:endParaRPr lang="en-US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2811-0098-4CB4-B9B1-8E1A76544AEA}" type="slidenum">
              <a:rPr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/>
                <a:cs typeface="Calibri" panose="020F0502020204030204"/>
              </a:rPr>
              <a:t>RedLucent.Thread</a:t>
            </a:r>
            <a:endParaRPr lang="en-US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2811-0098-4CB4-B9B1-8E1A76544AEA}" type="slidenum">
              <a:rPr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/>
                <a:cs typeface="Calibri" panose="020F0502020204030204"/>
              </a:rPr>
              <a:t>RedLucent.Thread</a:t>
            </a:r>
            <a:r>
              <a:rPr lang="en-US" dirty="0">
                <a:ea typeface="Calibri" panose="020F0502020204030204"/>
                <a:cs typeface="Calibri" panose="020F0502020204030204"/>
              </a:rPr>
              <a:t>  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 err="1">
                <a:ea typeface="Calibri" panose="020F0502020204030204"/>
                <a:cs typeface="Calibri" panose="020F0502020204030204"/>
              </a:rPr>
              <a:t>FullSurvery</a:t>
            </a:r>
            <a:r>
              <a:rPr lang="en-US" dirty="0">
                <a:ea typeface="Calibri" panose="020F0502020204030204"/>
                <a:cs typeface="Calibri" panose="020F0502020204030204"/>
              </a:rPr>
              <a:t>: </a:t>
            </a:r>
            <a:r>
              <a:rPr lang="en-US" altLang="en-US" dirty="0">
                <a:ea typeface="Calibri" panose="020F0502020204030204"/>
                <a:cs typeface="Calibri" panose="020F0502020204030204"/>
              </a:rPr>
              <a:t>https://docs.google.com/forms/d/1zJQ485wjTawfngITmvj4dOr__dEiIh5-IZ78f5_edqU/edit#responses</a:t>
            </a:r>
            <a:endParaRPr lang="en-US" alt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2811-0098-4CB4-B9B1-8E1A76544AEA}" type="slidenum">
              <a:rPr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/>
          <p:cNvCxnSpPr/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/>
          <p:cNvCxnSpPr/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  <p:sp>
        <p:nvSpPr>
          <p:cNvPr id="14" name="Picture Placeholder 13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6" name="Picture Placehold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6" name="Picture Placehold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6" name="Picture Placehold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/>
          <p:cNvCxnSpPr/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/>
          <p:cNvCxnSpPr/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7B2A-1291-46F4-B4CC-8BAFDF935B5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hyperlink" Target="https://docs.google.com/forms/d/1zJQ485wjTawfngITmvj4dOr__dEiIh5-IZ78f5_edqU/edit#response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75424"/>
            <a:ext cx="10981137" cy="1239720"/>
          </a:xfrm>
        </p:spPr>
        <p:txBody>
          <a:bodyPr>
            <a:normAutofit/>
          </a:bodyPr>
          <a:lstStyle/>
          <a:p>
            <a:r>
              <a:rPr lang="en-US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Enhancing Kenya Power's Prepaid Electricity Experience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99569" y="1441156"/>
            <a:ext cx="10981137" cy="39834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A Bluetooth-Enabled Smart Customer Interface Unit (CIU) Integrated with the </a:t>
            </a: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My Power</a:t>
            </a:r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 Mobile </a:t>
            </a: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Application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endParaRPr lang="en-US" sz="2400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Presented by</a:t>
            </a:r>
            <a:endParaRPr lang="en-US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Kahindi Padii Gandi</a:t>
            </a:r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Android &amp; Embedded Systems Developer</a:t>
            </a:r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KCA University</a:t>
            </a:r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254" y="5285428"/>
            <a:ext cx="756140" cy="767863"/>
          </a:xfrm>
          <a:prstGeom prst="rect">
            <a:avLst/>
          </a:prstGeom>
        </p:spPr>
      </p:pic>
      <p:pic>
        <p:nvPicPr>
          <p:cNvPr id="10" name="Picture 9" descr="Master Java Android Game Development at American Young Co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46" y="5275384"/>
            <a:ext cx="668216" cy="76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54" y="5240215"/>
            <a:ext cx="996463" cy="931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51270"/>
            <a:ext cx="9293014" cy="1239720"/>
          </a:xfrm>
        </p:spPr>
        <p:txBody>
          <a:bodyPr/>
          <a:lstStyle/>
          <a:p>
            <a:r>
              <a:rPr lang="en-US">
                <a:latin typeface="SimSun" panose="02010600030101010101" pitchFamily="2" charset="-122"/>
                <a:ea typeface="SimSun" panose="02010600030101010101" pitchFamily="2" charset="-122"/>
              </a:rPr>
              <a:t>About Me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680" y="1635760"/>
            <a:ext cx="9070975" cy="43580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I am an undergraduate Computing student at KCA University with an interest in Android development, Embedded Systems, and Internet of Things (IoT).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Over the past several months, I have researched Kenya Power's prepaid electricity ecosystem and developed a working prototype demonstrating how Bluetooth Low Energy (BLE) can improve customer interaction with existing prepaid Customer Interface Units (CIUs) without replacing current infrastructure.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3F1C-5F99-4B74-876F-D3061E2DE88D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812" y="652721"/>
            <a:ext cx="9250158" cy="857559"/>
          </a:xfrm>
        </p:spPr>
        <p:txBody>
          <a:bodyPr/>
          <a:lstStyle/>
          <a:p>
            <a:r>
              <a:rPr lang="en-US">
                <a:latin typeface="SimSun" panose="02010600030101010101" pitchFamily="2" charset="-122"/>
                <a:ea typeface="SimSun" panose="02010600030101010101" pitchFamily="2" charset="-122"/>
              </a:rPr>
              <a:t>Problem statement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695" y="1519535"/>
            <a:ext cx="11571325" cy="4911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Current Customer Challenges</a:t>
            </a:r>
            <a:endParaRPr lang="en-US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Customers frequently forget to monitor remaining electricity units.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Unexpected power interruptions occur due to depleted tokens.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Manual entry of 20-digit prepaid tokens is inconvenient.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Customers must be physically present near the CIU to monitor usage.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Existing CIUs provide valuable information but cannot share it with customers' smartphones.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8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Result</a:t>
            </a:r>
            <a:endParaRPr lang="en-US" sz="2800" b="1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r>
              <a:rPr lang="en-US" sz="20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Reduced customer convenience despite existing digital payment channels.</a:t>
            </a:r>
            <a:endParaRPr lang="en-US" sz="200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13B4-D1F6-460E-AF43-895FBD5D4EE9}" type="datetime1">
              <a:rPr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hlinkClick r:id="rId1" tooltip="" action="ppaction://hlinkfile"/>
          </p:cNvPr>
          <p:cNvSpPr txBox="1"/>
          <p:nvPr/>
        </p:nvSpPr>
        <p:spPr>
          <a:xfrm>
            <a:off x="1647825" y="6207125"/>
            <a:ext cx="8409940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25" y="31544"/>
            <a:ext cx="9238434" cy="857559"/>
          </a:xfrm>
        </p:spPr>
        <p:txBody>
          <a:bodyPr>
            <a:normAutofit/>
          </a:bodyPr>
          <a:lstStyle/>
          <a:p>
            <a:r>
              <a:rPr lang="en-US" sz="3600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Why This Matters</a:t>
            </a:r>
            <a:endParaRPr lang="en-US" sz="3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AA79E-9E04-461E-BCB3-033C1DF3BB01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  <p:pic>
        <p:nvPicPr>
          <p:cNvPr id="15" name="Content Placeholder 14" descr="Forms response chart. Question title:   How often do you forget to buy electricity tokens before they run out?  . Number of responses: 20 responses.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99" y="937063"/>
            <a:ext cx="5429803" cy="2934248"/>
          </a:xfrm>
          <a:prstGeom prst="rect">
            <a:avLst/>
          </a:prstGeom>
        </p:spPr>
      </p:pic>
      <p:pic>
        <p:nvPicPr>
          <p:cNvPr id="16" name="Picture 15" descr="Forms response chart. Question title:   Have you ever experienced a power outage because you forgot to purchase tokens?  . Number of responses: 20 respons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92" y="890962"/>
            <a:ext cx="5310556" cy="2948339"/>
          </a:xfrm>
          <a:prstGeom prst="rect">
            <a:avLst/>
          </a:prstGeom>
        </p:spPr>
      </p:pic>
      <p:pic>
        <p:nvPicPr>
          <p:cNvPr id="17" name="Picture 16" descr="Forms response chart. Question title:   How often do you manually check your remaining electricity units?  . Number of responses: 20 response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08" y="3962407"/>
            <a:ext cx="4953002" cy="2244954"/>
          </a:xfrm>
          <a:prstGeom prst="rect">
            <a:avLst/>
          </a:prstGeom>
        </p:spPr>
      </p:pic>
      <p:pic>
        <p:nvPicPr>
          <p:cNvPr id="18" name="Picture 17" descr="Forms response chart. Question title:   Would receiving low electricity notifications on your phone be useful?  . Number of responses: 20 response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85" y="3751393"/>
            <a:ext cx="5843955" cy="2280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089" y="113461"/>
            <a:ext cx="9238434" cy="857559"/>
          </a:xfrm>
        </p:spPr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Current Process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Content Placeholder 7" descr="Buy Tokens&#10;"/>
          <p:cNvSpPr>
            <a:spLocks noGrp="1"/>
          </p:cNvSpPr>
          <p:nvPr>
            <p:ph idx="1"/>
          </p:nvPr>
        </p:nvSpPr>
        <p:spPr>
          <a:xfrm>
            <a:off x="257258" y="984739"/>
            <a:ext cx="9232573" cy="5017475"/>
          </a:xfrm>
          <a:prstGeom prst="downArrow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>
                <a:latin typeface="SimSun" panose="02010600030101010101" pitchFamily="2" charset="-122"/>
                <a:ea typeface="SimSun" panose="02010600030101010101" pitchFamily="2" charset="-122"/>
              </a:rPr>
              <a:t>Buy Tokens</a:t>
            </a:r>
            <a:endParaRPr lang="en-US" sz="42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4200">
                <a:latin typeface="SimSun" panose="02010600030101010101" pitchFamily="2" charset="-122"/>
                <a:ea typeface="SimSun" panose="02010600030101010101" pitchFamily="2" charset="-122"/>
              </a:rPr>
              <a:t>Receive tokens</a:t>
            </a:r>
            <a:endParaRPr lang="en-US" sz="42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4200" dirty="0">
                <a:latin typeface="SimSun" panose="02010600030101010101" pitchFamily="2" charset="-122"/>
                <a:ea typeface="SimSun" panose="02010600030101010101" pitchFamily="2" charset="-122"/>
              </a:rPr>
              <a:t>Enter </a:t>
            </a:r>
            <a:r>
              <a:rPr lang="en-US" sz="4200">
                <a:latin typeface="SimSun" panose="02010600030101010101" pitchFamily="2" charset="-122"/>
                <a:ea typeface="SimSun" panose="02010600030101010101" pitchFamily="2" charset="-122"/>
              </a:rPr>
              <a:t>20-digit</a:t>
            </a:r>
            <a:r>
              <a:rPr lang="en-US" sz="4200" dirty="0">
                <a:latin typeface="SimSun" panose="02010600030101010101" pitchFamily="2" charset="-122"/>
                <a:ea typeface="SimSun" panose="02010600030101010101" pitchFamily="2" charset="-122"/>
              </a:rPr>
              <a:t> code manually</a:t>
            </a:r>
            <a:endParaRPr lang="en-US" sz="4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4200">
                <a:latin typeface="SimSun" panose="02010600030101010101" pitchFamily="2" charset="-122"/>
                <a:ea typeface="SimSun" panose="02010600030101010101" pitchFamily="2" charset="-122"/>
              </a:rPr>
              <a:t>Power restored</a:t>
            </a:r>
            <a:endParaRPr lang="en-US" sz="42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59EC-EF9F-4259-8B0F-EF6EA6892368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  <p:sp>
        <p:nvSpPr>
          <p:cNvPr id="11" name="Arrow: Down 10"/>
          <p:cNvSpPr/>
          <p:nvPr/>
        </p:nvSpPr>
        <p:spPr>
          <a:xfrm>
            <a:off x="3123561" y="1459910"/>
            <a:ext cx="410647" cy="501041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/>
          <p:cNvSpPr/>
          <p:nvPr/>
        </p:nvSpPr>
        <p:spPr>
          <a:xfrm>
            <a:off x="3134990" y="2561879"/>
            <a:ext cx="445815" cy="594825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/>
          <p:cNvSpPr/>
          <p:nvPr/>
        </p:nvSpPr>
        <p:spPr>
          <a:xfrm>
            <a:off x="3204010" y="3646265"/>
            <a:ext cx="428231" cy="594825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9566" y="2091"/>
            <a:ext cx="9238434" cy="857559"/>
          </a:xfrm>
        </p:spPr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Proposed Solution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270" y="970280"/>
            <a:ext cx="4912360" cy="54248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n-US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             </a:t>
            </a:r>
            <a:r>
              <a:rPr lang="en-US" sz="2100" dirty="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Customer</a:t>
            </a:r>
            <a:endParaRPr lang="en-US" sz="21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r>
              <a:rPr lang="en-US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          </a:t>
            </a:r>
            <a:r>
              <a:rPr lang="en-US" sz="21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 My-Power App</a:t>
            </a:r>
            <a:endParaRPr lang="en-US" sz="210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r>
              <a:rPr lang="en-US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          </a:t>
            </a:r>
            <a:r>
              <a:rPr lang="en-US" sz="21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 Bluetooth</a:t>
            </a:r>
            <a:endParaRPr lang="en-US" sz="210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r>
              <a:rPr lang="en-US" sz="21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        BLE-enabled CIU</a:t>
            </a:r>
            <a:endParaRPr lang="en-US" sz="2100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just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pPr marL="0" indent="0" algn="just">
              <a:buNone/>
            </a:pPr>
            <a:r>
              <a:rPr lang="en-US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            </a:t>
            </a:r>
            <a:r>
              <a:rPr lang="en-US" sz="23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Existing Meter</a:t>
            </a:r>
            <a:endParaRPr lang="en-US" sz="23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146C-C824-426D-90BE-C61A0532A140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  <p:sp>
        <p:nvSpPr>
          <p:cNvPr id="16" name="Arrow: Down 15"/>
          <p:cNvSpPr/>
          <p:nvPr/>
        </p:nvSpPr>
        <p:spPr>
          <a:xfrm>
            <a:off x="3044284" y="1421810"/>
            <a:ext cx="445815" cy="624132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/>
          <p:cNvSpPr/>
          <p:nvPr/>
        </p:nvSpPr>
        <p:spPr>
          <a:xfrm>
            <a:off x="3061283" y="2597048"/>
            <a:ext cx="445815" cy="653441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/>
          <p:cNvSpPr/>
          <p:nvPr/>
        </p:nvSpPr>
        <p:spPr>
          <a:xfrm>
            <a:off x="3085900" y="3880726"/>
            <a:ext cx="434092" cy="594825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/>
          <p:cNvSpPr/>
          <p:nvPr/>
        </p:nvSpPr>
        <p:spPr>
          <a:xfrm>
            <a:off x="3118139" y="5035448"/>
            <a:ext cx="439953" cy="624133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Features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9B05-0622-482B-9DB2-5B70E3C22A4B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  <p:sp>
        <p:nvSpPr>
          <p:cNvPr id="7" name="Rectangle: Rounded Corners 6" descr="Smart Monitoring&#10;&#10;Remaining Units&#10;"/>
          <p:cNvSpPr/>
          <p:nvPr/>
        </p:nvSpPr>
        <p:spPr>
          <a:xfrm>
            <a:off x="1223596" y="2336870"/>
            <a:ext cx="3145551" cy="132407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SMART MONITORING</a:t>
            </a:r>
            <a:endParaRPr lang="en-US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sz="20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Remaining Units</a:t>
            </a:r>
            <a:endParaRPr lang="en-US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Rectangle: Rounded Corners 7" descr="Smart Monitoring&#10;&#10;Remaining Units&#10;"/>
          <p:cNvSpPr/>
          <p:nvPr/>
        </p:nvSpPr>
        <p:spPr>
          <a:xfrm>
            <a:off x="6030057" y="2448238"/>
            <a:ext cx="2905228" cy="1165817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NOTIFICATIONS</a:t>
            </a:r>
            <a:endParaRPr lang="en-US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sz="20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Low Balance Alerts</a:t>
            </a:r>
            <a:endParaRPr lang="en-US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Rectangle: Rounded Corners 9" descr="Smart Monitoring&#10;&#10;Remaining Units&#10;"/>
          <p:cNvSpPr/>
          <p:nvPr/>
        </p:nvSpPr>
        <p:spPr>
          <a:xfrm>
            <a:off x="6024194" y="4341514"/>
            <a:ext cx="2916952" cy="1306494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ANALYTICS</a:t>
            </a:r>
            <a:endParaRPr lang="en-US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sz="20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Daily Consumption</a:t>
            </a:r>
            <a:endParaRPr lang="en-US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Rectangle: Rounded Corners 10" descr="Smart Monitoring&#10;&#10;Remaining Units&#10;"/>
          <p:cNvSpPr/>
          <p:nvPr/>
        </p:nvSpPr>
        <p:spPr>
          <a:xfrm>
            <a:off x="1223595" y="4482191"/>
            <a:ext cx="3151413" cy="1347524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ASSISTED TOKEN LOADING</a:t>
            </a:r>
            <a:endParaRPr lang="en-US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sz="2000" b="1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Automatic Token Transfer</a:t>
            </a:r>
            <a:endParaRPr lang="en-US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Benefits to Kenya Power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280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CUSTOMER BENEFITS</a:t>
            </a:r>
            <a:endParaRPr lang="en-US" sz="2400" b="1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Better user experience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Accessibility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Reduced manual errors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Convenience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indent="0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107724" y="2135565"/>
            <a:ext cx="4618891" cy="342703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KENYA POWER BENEFITS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Supports </a:t>
            </a:r>
            <a:r>
              <a:rPr lang="en-US" sz="2400" dirty="0" err="1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Tuende</a:t>
            </a:r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Digital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Increased </a:t>
            </a: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My-Power</a:t>
            </a:r>
            <a:r>
              <a:rPr lang="en-US" sz="2400" dirty="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engagement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Backward compatible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✔ Future-ready platform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0" indent="0">
              <a:buNone/>
            </a:pP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835C-99D1-41FC-8363-EA8C7351F33F}" type="datetime1">
              <a:rPr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458" y="230691"/>
            <a:ext cx="9238434" cy="857559"/>
          </a:xfrm>
        </p:spPr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Implementation Strategy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68F50-2223-45C9-84A5-C2C23E97624B}" type="datetime1">
              <a:rPr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  <p:sp>
        <p:nvSpPr>
          <p:cNvPr id="16" name="Rectangle: Rounded Corners 15" descr="Smart Monitoring&#10;&#10;Remaining Units&#10;"/>
          <p:cNvSpPr/>
          <p:nvPr/>
        </p:nvSpPr>
        <p:spPr>
          <a:xfrm>
            <a:off x="608134" y="1504532"/>
            <a:ext cx="3268643" cy="103686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PHASE ONE</a:t>
            </a:r>
            <a:endParaRPr lang="en-US" sz="2400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PROTOTYPE</a:t>
            </a:r>
            <a:endParaRPr lang="en-US" b="1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9" name="Rectangle: Rounded Corners 18" descr="Smart Monitoring&#10;&#10;Remaining Units&#10;"/>
          <p:cNvSpPr/>
          <p:nvPr/>
        </p:nvSpPr>
        <p:spPr>
          <a:xfrm>
            <a:off x="5320810" y="1504531"/>
            <a:ext cx="3268643" cy="103686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PHASE  TWO</a:t>
            </a:r>
            <a:endParaRPr lang="en-US" sz="2400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PILOT</a:t>
            </a:r>
            <a:endParaRPr lang="en-US" b="1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2" name="Rectangle: Rounded Corners 21" descr="Smart Monitoring&#10;&#10;Remaining Units&#10;"/>
          <p:cNvSpPr/>
          <p:nvPr/>
        </p:nvSpPr>
        <p:spPr>
          <a:xfrm>
            <a:off x="5320810" y="3427116"/>
            <a:ext cx="3268643" cy="103686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PHASE  THREE</a:t>
            </a:r>
            <a:endParaRPr lang="en-US" sz="2400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INTERGRATION</a:t>
            </a:r>
            <a:endParaRPr lang="en-US" b="1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3" name="Rectangle: Rounded Corners 22" descr="Smart Monitoring&#10;&#10;Remaining Units&#10;"/>
          <p:cNvSpPr/>
          <p:nvPr/>
        </p:nvSpPr>
        <p:spPr>
          <a:xfrm>
            <a:off x="608133" y="3427116"/>
            <a:ext cx="3268643" cy="103686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PHASE FOUR</a:t>
            </a:r>
            <a:endParaRPr lang="en-US" sz="2400" b="1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FINAL ROLLOUT</a:t>
            </a:r>
            <a:endParaRPr lang="en-US" b="1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4079630" y="1922584"/>
            <a:ext cx="1090246" cy="2344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729045" y="2625968"/>
            <a:ext cx="12595" cy="71510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4021014" y="3915507"/>
            <a:ext cx="1119554" cy="1259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Future Opportunities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Smart notifications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Usage analytics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Smart home integration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Predictive electricity purchasing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• Enhanced customer engagement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</a:rPr>
              <a:t>AI</a:t>
            </a:r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0B11-5BEB-464E-89C6-EF8404F3ADF9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Closing</a:t>
            </a:r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This proposal demonstrates how Kenya Power can enhance the existing prepaid electricity experience by leveraging Bluetooth Low Energy technology while preserving the current prepaid infrastructure.</a:t>
            </a:r>
            <a:endParaRPr lang="en-US" sz="2400">
              <a:latin typeface="SimSun" panose="02010600030101010101" pitchFamily="2" charset="-122"/>
              <a:ea typeface="SimSun" panose="02010600030101010101" pitchFamily="2" charset="-122"/>
              <a:cs typeface="+mn-lt"/>
            </a:endParaRPr>
          </a:p>
          <a:p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400">
                <a:latin typeface="SimSun" panose="02010600030101010101" pitchFamily="2" charset="-122"/>
                <a:ea typeface="SimSun" panose="02010600030101010101" pitchFamily="2" charset="-122"/>
                <a:cs typeface="+mn-lt"/>
              </a:rPr>
              <a:t>Thank You</a:t>
            </a:r>
            <a:endParaRPr 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BA6D0-8601-4085-BDE3-E8DB23892C07}" type="datetime1">
              <a:rPr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2387</Words>
  <Application>WPS Presentation</Application>
  <PresentationFormat>Widescreen</PresentationFormat>
  <Paragraphs>195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Oswald SemiBold</vt:lpstr>
      <vt:lpstr>Segoe Print</vt:lpstr>
      <vt:lpstr>Univers Condensed Light</vt:lpstr>
      <vt:lpstr>Microsoft YaHei</vt:lpstr>
      <vt:lpstr>Arial Unicode MS</vt:lpstr>
      <vt:lpstr>SimSun-ExtB</vt:lpstr>
      <vt:lpstr>Calibri</vt:lpstr>
      <vt:lpstr>Orange Experience</vt:lpstr>
      <vt:lpstr>Enhancing Kenya Power's Prepaid Electricity Experience</vt:lpstr>
      <vt:lpstr>About Me</vt:lpstr>
      <vt:lpstr>Problem statement</vt:lpstr>
      <vt:lpstr>Why This Matters</vt:lpstr>
      <vt:lpstr>Current Process</vt:lpstr>
      <vt:lpstr>Proposed Solution</vt:lpstr>
      <vt:lpstr>Features</vt:lpstr>
      <vt:lpstr>Benefits to Kenya Power</vt:lpstr>
      <vt:lpstr>Implementation Strategy</vt:lpstr>
      <vt:lpstr>Future Opportunities</vt:lpstr>
      <vt:lpstr>Closing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Padii Amamea</cp:lastModifiedBy>
  <cp:revision>638</cp:revision>
  <dcterms:created xsi:type="dcterms:W3CDTF">2026-07-28T12:36:00Z</dcterms:created>
  <dcterms:modified xsi:type="dcterms:W3CDTF">2026-07-28T20:45:36Z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FFB04DD5A05942FFB0D42A269F0FD9FA_12</vt:lpwstr>
  </property>
</Properties>
</file>